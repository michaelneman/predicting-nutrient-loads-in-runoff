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95" r:id="rId3"/>
    <p:sldId id="312" r:id="rId4"/>
    <p:sldId id="296" r:id="rId5"/>
    <p:sldId id="307" r:id="rId6"/>
    <p:sldId id="313" r:id="rId7"/>
    <p:sldId id="311" r:id="rId8"/>
    <p:sldId id="261" r:id="rId9"/>
    <p:sldId id="297" r:id="rId10"/>
    <p:sldId id="299" r:id="rId11"/>
    <p:sldId id="308" r:id="rId12"/>
    <p:sldId id="303" r:id="rId13"/>
    <p:sldId id="305" r:id="rId14"/>
    <p:sldId id="306" r:id="rId15"/>
    <p:sldId id="259" r:id="rId16"/>
    <p:sldId id="298" r:id="rId17"/>
    <p:sldId id="301" r:id="rId18"/>
    <p:sldId id="302" r:id="rId19"/>
    <p:sldId id="304" r:id="rId20"/>
    <p:sldId id="309" r:id="rId21"/>
    <p:sldId id="31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61138" autoAdjust="0"/>
  </p:normalViewPr>
  <p:slideViewPr>
    <p:cSldViewPr snapToGrid="0">
      <p:cViewPr varScale="1">
        <p:scale>
          <a:sx n="67" d="100"/>
          <a:sy n="67" d="100"/>
        </p:scale>
        <p:origin x="1628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TSS RMSE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7330927384076991E-2"/>
          <c:y val="0.19486111111111112"/>
          <c:w val="0.88822462817147851"/>
          <c:h val="0.7212580198308544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400-4CCA-B20E-2BB7375594D9}"/>
              </c:ext>
            </c:extLst>
          </c:dPt>
          <c:cat>
            <c:strRef>
              <c:f>Sheet1!$B$4:$B$6</c:f>
              <c:strCache>
                <c:ptCount val="3"/>
                <c:pt idx="0">
                  <c:v>Random Forest</c:v>
                </c:pt>
                <c:pt idx="1">
                  <c:v>Gradient Boosted </c:v>
                </c:pt>
                <c:pt idx="2">
                  <c:v>Bart</c:v>
                </c:pt>
              </c:strCache>
            </c:strRef>
          </c:cat>
          <c:val>
            <c:numRef>
              <c:f>Sheet1!$C$4:$C$6</c:f>
              <c:numCache>
                <c:formatCode>General</c:formatCode>
                <c:ptCount val="3"/>
                <c:pt idx="0">
                  <c:v>154.30000000000001</c:v>
                </c:pt>
                <c:pt idx="1">
                  <c:v>142.30000000000001</c:v>
                </c:pt>
                <c:pt idx="2">
                  <c:v>141.69999999999999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00-4CCA-B20E-2BB7375594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74777295"/>
        <c:axId val="974776815"/>
      </c:barChart>
      <c:catAx>
        <c:axId val="974777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4776815"/>
        <c:crosses val="autoZero"/>
        <c:auto val="1"/>
        <c:lblAlgn val="ctr"/>
        <c:lblOffset val="100"/>
        <c:noMultiLvlLbl val="0"/>
      </c:catAx>
      <c:valAx>
        <c:axId val="974776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4777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Phosphorus</a:t>
            </a:r>
            <a:r>
              <a:rPr lang="en-US" baseline="0"/>
              <a:t> RMSE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3736-44AC-B0E9-0AD0D3B9EE8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736-44AC-B0E9-0AD0D3B9EE84}"/>
              </c:ext>
            </c:extLst>
          </c:dPt>
          <c:cat>
            <c:strRef>
              <c:f>Sheet1!$B$11:$B$13</c:f>
              <c:strCache>
                <c:ptCount val="3"/>
                <c:pt idx="0">
                  <c:v>Bart</c:v>
                </c:pt>
                <c:pt idx="1">
                  <c:v>Random Forest</c:v>
                </c:pt>
                <c:pt idx="2">
                  <c:v>Gradient Boosted </c:v>
                </c:pt>
              </c:strCache>
            </c:strRef>
          </c:cat>
          <c:val>
            <c:numRef>
              <c:f>Sheet1!$C$11:$C$13</c:f>
              <c:numCache>
                <c:formatCode>General</c:formatCode>
                <c:ptCount val="3"/>
                <c:pt idx="0">
                  <c:v>0.81</c:v>
                </c:pt>
                <c:pt idx="1">
                  <c:v>0.78</c:v>
                </c:pt>
                <c:pt idx="2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36-44AC-B0E9-0AD0D3B9EE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74784975"/>
        <c:axId val="974781615"/>
      </c:barChart>
      <c:catAx>
        <c:axId val="974784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4781615"/>
        <c:crosses val="autoZero"/>
        <c:auto val="1"/>
        <c:lblAlgn val="ctr"/>
        <c:lblOffset val="100"/>
        <c:noMultiLvlLbl val="0"/>
      </c:catAx>
      <c:valAx>
        <c:axId val="9747816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47849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Nitrate</a:t>
            </a:r>
            <a:r>
              <a:rPr lang="en-US" baseline="0"/>
              <a:t> RMSE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2D6-465C-991D-F9AACBEB3420}"/>
              </c:ext>
            </c:extLst>
          </c:dPt>
          <c:cat>
            <c:strRef>
              <c:f>Sheet1!$B$18:$B$20</c:f>
              <c:strCache>
                <c:ptCount val="3"/>
                <c:pt idx="0">
                  <c:v>Bart</c:v>
                </c:pt>
                <c:pt idx="1">
                  <c:v>Gradient Boosted </c:v>
                </c:pt>
                <c:pt idx="2">
                  <c:v>Random Forest</c:v>
                </c:pt>
              </c:strCache>
            </c:strRef>
          </c:cat>
          <c:val>
            <c:numRef>
              <c:f>Sheet1!$C$18:$C$20</c:f>
              <c:numCache>
                <c:formatCode>General</c:formatCode>
                <c:ptCount val="3"/>
                <c:pt idx="0">
                  <c:v>0.45</c:v>
                </c:pt>
                <c:pt idx="1">
                  <c:v>0.4</c:v>
                </c:pt>
                <c:pt idx="2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D6-465C-991D-F9AACBEB34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74789295"/>
        <c:axId val="974789775"/>
      </c:barChart>
      <c:catAx>
        <c:axId val="974789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4789775"/>
        <c:crosses val="autoZero"/>
        <c:auto val="1"/>
        <c:lblAlgn val="ctr"/>
        <c:lblOffset val="100"/>
        <c:noMultiLvlLbl val="0"/>
      </c:catAx>
      <c:valAx>
        <c:axId val="9747897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4789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03:25:08.9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122D9-1D1E-4751-AE93-36EA1225CE7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7F1E5-DB01-48DF-8341-2DC817BC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34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Urbanization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Increase in impervious surfaces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Change hydrological conditions – prevent infiltration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Higher volume during storm events increasing nutrient and contaminant loads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Urban drainage systems / retention often have higher levels of contaminants.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Vehicles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Oil and grease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Fertilizer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Eutrophication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Nitrogen and Phosphorus main drivers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Increased plant life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Depleted oxygen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Dead animal life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Increased turbidity – reduction in sunlight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Affects aquatic plant life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Carrier of contaminants, </a:t>
            </a:r>
            <a:r>
              <a:rPr lang="en-US" dirty="0" err="1"/>
              <a:t>phos</a:t>
            </a:r>
            <a:r>
              <a:rPr lang="en-US" dirty="0"/>
              <a:t>, heavy metals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7F1E5-DB01-48DF-8341-2DC817BC525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875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4DBA5-DCFD-CD9B-DACE-EBAB54112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838D81-6D22-0D16-25F7-63C22C9BA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1A36F8-4209-4E80-0F60-2709A63BD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9356-629D-910C-37CB-0FE141984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7F1E5-DB01-48DF-8341-2DC817BC525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30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2001 – 2015</a:t>
            </a:r>
          </a:p>
          <a:p>
            <a:r>
              <a:rPr lang="en-US" dirty="0"/>
              <a:t>NPDES – National Pollutant Discharge Elimination System</a:t>
            </a:r>
          </a:p>
          <a:p>
            <a:r>
              <a:rPr lang="en-US" dirty="0"/>
              <a:t>200 municipalities</a:t>
            </a:r>
          </a:p>
          <a:p>
            <a:r>
              <a:rPr lang="en-US" dirty="0"/>
              <a:t>9,000 events</a:t>
            </a:r>
          </a:p>
          <a:p>
            <a:r>
              <a:rPr lang="en-US" dirty="0"/>
              <a:t>9 </a:t>
            </a:r>
            <a:r>
              <a:rPr lang="en-US" dirty="0" err="1"/>
              <a:t>epa</a:t>
            </a:r>
            <a:r>
              <a:rPr lang="en-US" dirty="0"/>
              <a:t> rain zones</a:t>
            </a:r>
          </a:p>
          <a:p>
            <a:endParaRPr lang="en-US" dirty="0"/>
          </a:p>
          <a:p>
            <a:r>
              <a:rPr lang="en-US" dirty="0"/>
              <a:t>Data collected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Lat and long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Drainage area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Principle land use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Percentage industrial, residential, commercial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Percent impervious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7F1E5-DB01-48DF-8341-2DC817BC525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756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7F1E5-DB01-48DF-8341-2DC817BC525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96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9052 observations</a:t>
            </a:r>
          </a:p>
          <a:p>
            <a:r>
              <a:rPr lang="en-US" dirty="0"/>
              <a:t>259 parameters</a:t>
            </a:r>
          </a:p>
          <a:p>
            <a:endParaRPr lang="en-US" dirty="0"/>
          </a:p>
          <a:p>
            <a:r>
              <a:rPr lang="en-US" dirty="0"/>
              <a:t>Non-numeric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&lt; X, non-detect converted to 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&gt; x, missed dilution no result, dropped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Missing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Missing values were dropped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Data collected at several locations, tend to not record the same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Mean imputation not appropriate – different regions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QC results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&lt; or &gt; for micro wrong dilution, could not be quantified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ND converted to 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&gt; dropped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Categorical variables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One-hot encoding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Nrow</a:t>
            </a:r>
            <a:r>
              <a:rPr lang="en-US" dirty="0"/>
              <a:t> – 884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7F1E5-DB01-48DF-8341-2DC817BC525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41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7F1E5-DB01-48DF-8341-2DC817BC525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3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7F1E5-DB01-48DF-8341-2DC817BC525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827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Distance – Latitude and longitude from Omaha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Runoff coefficient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Calculated RV = percent impervious * 0.9 + 0.05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7F1E5-DB01-48DF-8341-2DC817BC525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15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Feature Importance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Subset of features considered at each split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Minimize variance (residual sum of squares) sum(y – </a:t>
            </a:r>
            <a:r>
              <a:rPr lang="en-US" dirty="0" err="1"/>
              <a:t>yhat</a:t>
            </a:r>
            <a:r>
              <a:rPr lang="en-US" dirty="0"/>
              <a:t>)^2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Each time feature is used for a split, </a:t>
            </a:r>
            <a:r>
              <a:rPr lang="en-US" dirty="0" err="1"/>
              <a:t>rss</a:t>
            </a:r>
            <a:r>
              <a:rPr lang="en-US" dirty="0"/>
              <a:t> is calculated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Decreases are weighted by the number samples that reach that node, summed over all trees in the forest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Score per feature calculated, determining importance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Recursive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Train on full set of features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Remove features step =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Repeat with reduced data set,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Continue until features = 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7F1E5-DB01-48DF-8341-2DC817BC525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883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7F1E5-DB01-48DF-8341-2DC817BC525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799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Ensemble methods</a:t>
            </a:r>
          </a:p>
          <a:p>
            <a:endParaRPr lang="en-US" dirty="0"/>
          </a:p>
          <a:p>
            <a:r>
              <a:rPr lang="en-US" dirty="0"/>
              <a:t>Random Forest Regression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Fits number of decision tree regressors on various sub samples of the dataset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Bagging (bootstrap aggregation)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Each tree trained on a bootstrap of the sample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each node, random subset of features is selected and the best split is found amongst the subset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De-correlates the trees because each tree sees a different subset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Squared error – split that maximizes the decrease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trees are trained, averaging the predictions of all individual trees.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Gradient Boosted Regression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Additive model, sequential, each stage is a decision tree fitted to the negative gradient of the loss function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each stage, algorithm fits a new tree to approximate the negative gradient of the loss function (squared error)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What does that mean?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Think of it as gradient descent, but in the space of a function.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Each base learner (tree) is trying to move the model in the direction of deepest descent.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After fitting each tree, the predictions are multiplied by the learning rate before being added to the existing model.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BART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Bayesian sum of trees. Model the response as the sum of many regression trees, subject to priors that shrink each tree to be a weak learner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Prior – tree structure to regularize trees so it’s weak, penalty for deeper trees.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Prior for node being terminal = a * (1 + d)^-b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= </a:t>
            </a:r>
            <a:r>
              <a:rPr lang="en-US" dirty="0" err="1"/>
              <a:t>prior_terminal_node_coef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 = depth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 = </a:t>
            </a:r>
            <a:r>
              <a:rPr lang="en-US" dirty="0" err="1"/>
              <a:t>prio_terminal_node_expo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Residual </a:t>
            </a:r>
            <a:r>
              <a:rPr lang="en-US" dirty="0" err="1"/>
              <a:t>prio</a:t>
            </a:r>
            <a:r>
              <a:rPr lang="en-US" dirty="0"/>
              <a:t> – chi-squared distribution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Markov Chain Monte Carlo to sample from the posterior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Proposes changes to individual trees. Typical moves include, birth/death, change and swap of nodes.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MCMC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Gibbs sampler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Multivariate distributions, thetas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Conditional probability thetas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Creates a </a:t>
            </a:r>
            <a:r>
              <a:rPr lang="en-US" dirty="0" err="1"/>
              <a:t>markov</a:t>
            </a:r>
            <a:r>
              <a:rPr lang="en-US" dirty="0"/>
              <a:t> chain with the correct stationary probabilities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7F1E5-DB01-48DF-8341-2DC817BC525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26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25297-89C3-17EF-B3F6-53C5D123C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F35B24-11F7-D8BB-C0F4-ADC3E0C95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B0731-9D28-6399-EB63-07AB5DCF2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parameters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N_estimator</a:t>
            </a:r>
            <a:r>
              <a:rPr lang="en-US" dirty="0"/>
              <a:t> – number of individual trees in the forest 100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Max_depth</a:t>
            </a:r>
            <a:r>
              <a:rPr lang="en-US" dirty="0"/>
              <a:t> – maximum depth, smaller trees prevents overfitting 15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Min_sample_split</a:t>
            </a:r>
            <a:r>
              <a:rPr lang="en-US" dirty="0"/>
              <a:t> – min number of samples to split a node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Max_features</a:t>
            </a:r>
            <a:r>
              <a:rPr lang="en-US" dirty="0"/>
              <a:t> – number (or fraction) of features to consider when looking for the best split at each node    none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Max_leaf_nodes</a:t>
            </a:r>
            <a:r>
              <a:rPr lang="en-US" dirty="0"/>
              <a:t> – max = number of samples, max leads to overfitting  none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Min_impurity_decrease</a:t>
            </a:r>
            <a:r>
              <a:rPr lang="en-US" dirty="0"/>
              <a:t> – node will split if doing so improves the criterion this much  0.0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Gradient boosted regression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Loss – squared error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Learning rate – shrinkage of each trees contribution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BART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Trees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Prior_terminal_node_coefficient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2464D-C84B-086E-02AC-B55890BFA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7F1E5-DB01-48DF-8341-2DC817BC525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634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5AE0F-0815-6436-46E8-3DA655B5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5D6A8B-F400-55C9-D3D1-FAE52B0B0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CAFE1-68B6-A2AB-AE29-1ED0871FD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RMSE = sqrt(1/n * sum(</a:t>
            </a:r>
            <a:r>
              <a:rPr lang="en-US" dirty="0" err="1"/>
              <a:t>yhat</a:t>
            </a:r>
            <a:r>
              <a:rPr lang="en-US" dirty="0"/>
              <a:t>-y)^2)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F8EBF-5CB5-3E4D-0111-2270EA3FD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7F1E5-DB01-48DF-8341-2DC817BC525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886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A669F-9852-5726-0868-08287718D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1D694-99DE-3019-EAD8-C03100F76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2B9815-5FA6-F078-D82C-333298BD4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2654B-C14D-6307-8009-A93AD5F6B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7F1E5-DB01-48DF-8341-2DC817BC525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355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E9122-31DB-48CD-1D10-435F0E9BB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15FA6F-4709-E653-D827-43373D83E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DAE26-443B-8B0F-1F65-0E619938B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75FE2-F0AC-1539-0DBF-6EE309400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7F1E5-DB01-48DF-8341-2DC817BC525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974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6EA1C-E561-0C8F-D384-9241A21F7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FB829-89F0-B9F3-DB3B-13D625AF9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13F15-7AA3-5378-4944-7A6D992E5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Multivariate Analysis</a:t>
            </a:r>
          </a:p>
          <a:p>
            <a:r>
              <a:rPr lang="en-US" dirty="0"/>
              <a:t>Data-transformation – log</a:t>
            </a:r>
          </a:p>
          <a:p>
            <a:r>
              <a:rPr lang="en-US" dirty="0"/>
              <a:t>Aggregate additional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Antecedent dry period - NOAA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Precipitation duration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Precipitation intensity mm/min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Imperviousness – National </a:t>
            </a:r>
            <a:r>
              <a:rPr lang="en-US" dirty="0" err="1"/>
              <a:t>Landuse</a:t>
            </a:r>
            <a:r>
              <a:rPr lang="en-US" dirty="0"/>
              <a:t> landcover database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Available water capacity – Web soil survey geographic database - U.S Department of Ag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Saturated hydraulic conductivity – dept of ag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02597-B6AA-8A97-6E25-71A2C3B51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7F1E5-DB01-48DF-8341-2DC817BC525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298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ED4CB-0A4A-CA1D-9209-3A7AFA858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0910A-1BA6-4E78-269B-626403F16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25F379-D0D5-E5BA-1FF7-72BE9E1F8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9821A-A52C-95BE-4825-476582D06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7F1E5-DB01-48DF-8341-2DC817BC525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84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1257C-B7D8-8CCF-ABBB-16A376AF9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B83278-6DA7-2A51-4061-472A46CBA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38962-08D9-D983-7202-0339D2E3B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819-C1B6-4A1F-9942-58E2E02D29FA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45F8B-F442-142F-067B-52C823662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C7669-73D0-E748-419C-4D0FC960D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5C58-B4EB-4C9E-BFFA-9F13B5FB7F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783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6B37-89E6-ABB5-3316-3C2ECE87B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1A904-9EB7-3FF9-23A0-B094F8570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5059-A2A6-8C8A-FF17-0CFB6658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819-C1B6-4A1F-9942-58E2E02D29FA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52C83-69A6-8DBA-107D-4E649F50E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D03CF-C04F-D2D9-84B6-DB779B119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5C58-B4EB-4C9E-BFFA-9F13B5FB7F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762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97380-F255-77D0-8ECC-C7F17E734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C4A39-6682-8E29-0205-0ABB1CFB4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D0696-20CA-2A1C-2582-7778E2B42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819-C1B6-4A1F-9942-58E2E02D29FA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8FA7A-9E3E-78DB-6870-54E694116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8B612-AF95-AFB0-AB54-C5DCBCCE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5C58-B4EB-4C9E-BFFA-9F13B5FB7F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31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D7384-3C05-23A9-8D32-9AEBC8687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907B4-A23F-5AE7-C5EE-C42CF9D8D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EC397-BA87-E9C3-C4C5-83103E0A9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C16EC-99BB-FCFA-9BD3-6B18ECF21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819-C1B6-4A1F-9942-58E2E02D29FA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26653F-790B-760D-7716-05812E185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2CAE4-034C-8A17-33E3-9562EBAFE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5C58-B4EB-4C9E-BFFA-9F13B5FB7F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299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9358-963B-6423-A62B-D1801E4FE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17223-B856-8F01-0FBA-C880E2A8B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C703F-4B21-347A-D3FD-EFA1C235D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373682-C9D6-D5D6-A025-3D92EBD6F1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5D0618-6269-82DB-62D7-23943A9992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B51742-D7FA-687F-5FED-92CF16EC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819-C1B6-4A1F-9942-58E2E02D29FA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8D6633-0045-DDC7-31FA-6239CFF8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E92143-7B57-763E-ED88-E64F44229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5C58-B4EB-4C9E-BFFA-9F13B5FB7F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294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5AE5-4F79-0AA0-D9A8-929EE46A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7EC894-A3D6-D3EB-2396-F4579256D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819-C1B6-4A1F-9942-58E2E02D29FA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E539B-4BBC-66D4-7740-3FB6512E7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2687F5-02C7-EDB2-11C4-1C8413C53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5C58-B4EB-4C9E-BFFA-9F13B5FB7F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60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743648-85E8-658E-4B2F-FA118D1E8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819-C1B6-4A1F-9942-58E2E02D29FA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39065E-5C6F-5D0C-2F96-A90F6FB02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F2C22-75FA-0FB3-8944-85F476972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5C58-B4EB-4C9E-BFFA-9F13B5FB7F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203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A6AA4-C146-D82C-4592-22D7F1BE0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436F0-FEFC-83BA-3BFD-2031CDD59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2DBB3-174F-1CEF-F696-218E5D197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5EAF4-9361-16B3-D947-C49A10FB4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819-C1B6-4A1F-9942-58E2E02D29FA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65378-D155-2C5C-803D-804DC6827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7709F-17E3-B8EB-24F3-9EABBAADA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5C58-B4EB-4C9E-BFFA-9F13B5FB7F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35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98CA3-3983-33EC-3BF6-60977DE2A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7F187-B359-B9F0-0886-C47BF384BE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049BE-135F-B870-D505-3EB4BF5B0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8FC60-AF73-471C-DF75-B6A04EFA2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819-C1B6-4A1F-9942-58E2E02D29FA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FB1AC-9E4C-34CE-EA2F-5B9485CB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99158-97B1-B049-701E-8B41E0A87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5C58-B4EB-4C9E-BFFA-9F13B5FB7F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002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A0FD7-4EF7-17C7-92CC-1E7F129E6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63278A-AE11-62E5-5896-D0EAFC279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1B854-7364-C476-E59F-BE091D204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819-C1B6-4A1F-9942-58E2E02D29FA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56DAC-75FC-A6ED-9174-52D0AA89D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68D3B-78E3-2148-9828-B2AE506AC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5C58-B4EB-4C9E-BFFA-9F13B5FB7F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89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55725B-9852-626F-CD3C-20FF2943F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5F4261-86C6-595E-4520-9488787CF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18A3E-B030-F22B-76F6-143BC421D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819-C1B6-4A1F-9942-58E2E02D29FA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E2178-D156-3C57-884C-F5A3AF1B0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774DC-6FC3-BBC6-7DDD-CE94D2855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5C58-B4EB-4C9E-BFFA-9F13B5FB7F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314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5ED330-1D8B-D65D-E9D4-64B3F24AB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867E3-7F0D-6AD9-341C-21BEF1A03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CF0BF-304A-D52A-AC7E-CD18A35DD1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B7819-C1B6-4A1F-9942-58E2E02D29FA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43AFA-FE25-AF9C-ABC4-48F95C788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3DE65-A2C0-BA0F-B9D2-9549D140D2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285C58-B4EB-4C9E-BFFA-9F13B5FB7F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472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Freeform: Shape 104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F74C4-F4DD-50E2-DBA7-F460F655A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i="1" dirty="0">
                <a:solidFill>
                  <a:srgbClr val="FFFFFF"/>
                </a:solidFill>
              </a:rPr>
              <a:t>Modeling Nutrient Concentrations in Urban Stormwater Runoff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DA32B-CB50-C260-82DC-0C1282A8FC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r"/>
            <a:r>
              <a:rPr lang="en-US" sz="3200" dirty="0"/>
              <a:t>Michael Neman</a:t>
            </a:r>
          </a:p>
        </p:txBody>
      </p:sp>
      <p:pic>
        <p:nvPicPr>
          <p:cNvPr id="1026" name="Picture 2" descr="Logo&#10;&#10;Description automatically generated">
            <a:extLst>
              <a:ext uri="{FF2B5EF4-FFF2-40B4-BE49-F238E27FC236}">
                <a16:creationId xmlns:a16="http://schemas.microsoft.com/office/drawing/2014/main" id="{FA957CA5-E2FC-AAEB-5587-BB1562E3B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42" y="6033963"/>
            <a:ext cx="1316375" cy="52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50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461321-7587-3D40-E070-EB68050F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77F8372-0DCD-1F12-48BE-235927567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D9DB79-6895-6AAF-1266-42871E3A5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CCE560-10E5-5B26-10EE-972B06CA4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DF5C8B-866D-A952-77A9-98BD9B21E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AF3502-E870-E6C7-9DA1-DDF1919A1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Urbanization increases nutrient levels in runoff, negatively impacting aquatic ecosystems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C17D629-939A-D6A0-2745-0EC91DEECAC8}"/>
              </a:ext>
            </a:extLst>
          </p:cNvPr>
          <p:cNvSpPr/>
          <p:nvPr/>
        </p:nvSpPr>
        <p:spPr>
          <a:xfrm>
            <a:off x="3473943" y="3429586"/>
            <a:ext cx="1828800" cy="18288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0" name="Rectangle 19" descr="Rain">
            <a:extLst>
              <a:ext uri="{FF2B5EF4-FFF2-40B4-BE49-F238E27FC236}">
                <a16:creationId xmlns:a16="http://schemas.microsoft.com/office/drawing/2014/main" id="{B07A2181-F90B-360B-9C2A-4B967DBC510F}"/>
              </a:ext>
            </a:extLst>
          </p:cNvPr>
          <p:cNvSpPr/>
          <p:nvPr/>
        </p:nvSpPr>
        <p:spPr>
          <a:xfrm>
            <a:off x="3707208" y="3662228"/>
            <a:ext cx="1362269" cy="1259632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BDCC1E-A80D-CD37-06F9-DC0E19F8336D}"/>
              </a:ext>
            </a:extLst>
          </p:cNvPr>
          <p:cNvCxnSpPr>
            <a:cxnSpLocks/>
          </p:cNvCxnSpPr>
          <p:nvPr/>
        </p:nvCxnSpPr>
        <p:spPr>
          <a:xfrm flipV="1">
            <a:off x="5618491" y="4265803"/>
            <a:ext cx="706017" cy="5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B8D42050-FCE1-2026-0744-642C86CD7206}"/>
              </a:ext>
            </a:extLst>
          </p:cNvPr>
          <p:cNvSpPr/>
          <p:nvPr/>
        </p:nvSpPr>
        <p:spPr>
          <a:xfrm>
            <a:off x="9739390" y="3429000"/>
            <a:ext cx="1828800" cy="1828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4E19DDA-4A70-2F2F-FB41-8FD0D25E3ED1}"/>
              </a:ext>
            </a:extLst>
          </p:cNvPr>
          <p:cNvSpPr/>
          <p:nvPr/>
        </p:nvSpPr>
        <p:spPr>
          <a:xfrm>
            <a:off x="597398" y="3429000"/>
            <a:ext cx="1828800" cy="18288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dirty="0"/>
          </a:p>
        </p:txBody>
      </p:sp>
      <p:pic>
        <p:nvPicPr>
          <p:cNvPr id="29" name="Graphic 28" descr="City outline">
            <a:extLst>
              <a:ext uri="{FF2B5EF4-FFF2-40B4-BE49-F238E27FC236}">
                <a16:creationId xmlns:a16="http://schemas.microsoft.com/office/drawing/2014/main" id="{F33C8912-2147-4AB5-15F1-B8F0BF4E31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7452" y="3658826"/>
            <a:ext cx="1082350" cy="1194315"/>
          </a:xfrm>
          <a:prstGeom prst="rect">
            <a:avLst/>
          </a:prstGeom>
        </p:spPr>
      </p:pic>
      <p:pic>
        <p:nvPicPr>
          <p:cNvPr id="39" name="Graphic 38" descr="Dead Fish Skeleton outline">
            <a:extLst>
              <a:ext uri="{FF2B5EF4-FFF2-40B4-BE49-F238E27FC236}">
                <a16:creationId xmlns:a16="http://schemas.microsoft.com/office/drawing/2014/main" id="{8A69F57C-F8DA-E5BF-F92F-CF3C10F118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96591" y="3798784"/>
            <a:ext cx="914400" cy="914400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C056F2AE-F2E3-5948-3BB3-69499D3D8202}"/>
              </a:ext>
            </a:extLst>
          </p:cNvPr>
          <p:cNvSpPr/>
          <p:nvPr/>
        </p:nvSpPr>
        <p:spPr>
          <a:xfrm>
            <a:off x="6696961" y="3429000"/>
            <a:ext cx="1828800" cy="1828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2" name="Graphic 41" descr="Beaker outline">
            <a:extLst>
              <a:ext uri="{FF2B5EF4-FFF2-40B4-BE49-F238E27FC236}">
                <a16:creationId xmlns:a16="http://schemas.microsoft.com/office/drawing/2014/main" id="{F377A950-CAD1-E765-DBFE-C01F92C269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54161" y="3798783"/>
            <a:ext cx="914400" cy="914400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E2DD3B3-2177-D337-B092-205237D87E89}"/>
              </a:ext>
            </a:extLst>
          </p:cNvPr>
          <p:cNvCxnSpPr>
            <a:cxnSpLocks/>
          </p:cNvCxnSpPr>
          <p:nvPr/>
        </p:nvCxnSpPr>
        <p:spPr>
          <a:xfrm flipV="1">
            <a:off x="8778336" y="4255983"/>
            <a:ext cx="706017" cy="5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A8D3E80-26CE-885A-C0F4-E6554179AB05}"/>
              </a:ext>
            </a:extLst>
          </p:cNvPr>
          <p:cNvCxnSpPr>
            <a:cxnSpLocks/>
          </p:cNvCxnSpPr>
          <p:nvPr/>
        </p:nvCxnSpPr>
        <p:spPr>
          <a:xfrm flipV="1">
            <a:off x="2649287" y="4292044"/>
            <a:ext cx="706017" cy="5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6969921-8C45-484A-0446-C14D7A1280B2}"/>
              </a:ext>
            </a:extLst>
          </p:cNvPr>
          <p:cNvSpPr txBox="1"/>
          <p:nvPr/>
        </p:nvSpPr>
        <p:spPr>
          <a:xfrm>
            <a:off x="709448" y="6069724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Urbanization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93E16-7ADC-79A7-3733-9F50B82E603C}"/>
              </a:ext>
            </a:extLst>
          </p:cNvPr>
          <p:cNvSpPr txBox="1"/>
          <p:nvPr/>
        </p:nvSpPr>
        <p:spPr>
          <a:xfrm>
            <a:off x="3447860" y="6069724"/>
            <a:ext cx="188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Increased Runoff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19F5AF-C474-6976-F0E2-E7455F3689D0}"/>
              </a:ext>
            </a:extLst>
          </p:cNvPr>
          <p:cNvSpPr txBox="1"/>
          <p:nvPr/>
        </p:nvSpPr>
        <p:spPr>
          <a:xfrm>
            <a:off x="9925065" y="6037458"/>
            <a:ext cx="16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Eutrophication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04EC88-46A2-C841-528C-48035A84CD29}"/>
              </a:ext>
            </a:extLst>
          </p:cNvPr>
          <p:cNvSpPr txBox="1"/>
          <p:nvPr/>
        </p:nvSpPr>
        <p:spPr>
          <a:xfrm>
            <a:off x="6287184" y="6069724"/>
            <a:ext cx="2648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Increased Contaminants</a:t>
            </a:r>
          </a:p>
        </p:txBody>
      </p:sp>
    </p:spTree>
    <p:extLst>
      <p:ext uri="{BB962C8B-B14F-4D97-AF65-F5344CB8AC3E}">
        <p14:creationId xmlns:p14="http://schemas.microsoft.com/office/powerpoint/2010/main" val="3562686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8A6C7-A899-2AEB-DD85-8FAB94B2A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09C578B-A6E6-ED25-1A54-8BDD0BA1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926804-B663-31AE-D638-1CCE4C9D3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2000BD-8574-978A-9589-9B40667E1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7B82B8-041D-E941-C748-8DA8128B9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34F62E-56AF-BE61-1306-B43F1E9DA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409C7-3021-2147-E1EC-0662CED77A50}"/>
              </a:ext>
            </a:extLst>
          </p:cNvPr>
          <p:cNvSpPr txBox="1"/>
          <p:nvPr/>
        </p:nvSpPr>
        <p:spPr>
          <a:xfrm>
            <a:off x="1383564" y="3231931"/>
            <a:ext cx="9871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Increased nutrient loads in runoff due to urbanization has resulted in a need for accurate and timely estimates of nutrient loads to make informed decisions in stormwater management.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A7BE2-00CB-AEC0-E5AE-0C912C2896E4}"/>
              </a:ext>
            </a:extLst>
          </p:cNvPr>
          <p:cNvSpPr txBox="1"/>
          <p:nvPr/>
        </p:nvSpPr>
        <p:spPr>
          <a:xfrm>
            <a:off x="1383564" y="4817141"/>
            <a:ext cx="92694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 address this challenge by developing predictive models to estimate stormwater concentrations of Nitrate, Phosphorus and Total Suspended Solids.</a:t>
            </a:r>
          </a:p>
        </p:txBody>
      </p:sp>
      <p:pic>
        <p:nvPicPr>
          <p:cNvPr id="7" name="Graphic 6" descr="Chevron arrows with solid fill">
            <a:extLst>
              <a:ext uri="{FF2B5EF4-FFF2-40B4-BE49-F238E27FC236}">
                <a16:creationId xmlns:a16="http://schemas.microsoft.com/office/drawing/2014/main" id="{815F9236-F59D-C53D-11A6-35AAC68D39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926" y="3231931"/>
            <a:ext cx="914400" cy="914400"/>
          </a:xfrm>
          <a:prstGeom prst="rect">
            <a:avLst/>
          </a:prstGeom>
        </p:spPr>
      </p:pic>
      <p:pic>
        <p:nvPicPr>
          <p:cNvPr id="8" name="Graphic 7" descr="Chevron arrows with solid fill">
            <a:extLst>
              <a:ext uri="{FF2B5EF4-FFF2-40B4-BE49-F238E27FC236}">
                <a16:creationId xmlns:a16="http://schemas.microsoft.com/office/drawing/2014/main" id="{2FD4E61F-160B-E55A-D7DB-8900718C4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926" y="47497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856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6AC5FF-4BA1-A58D-7BE7-49CA8D502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17B40AA-3B35-7297-17A7-0C31BFE9E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720A4B-120D-62FC-903C-E49D04FE4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5E5705-C25F-2E75-13E1-7ECFC6FE4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BFA12E-5467-588C-789A-C00A11FBF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EF765C7-171E-37BA-4A35-341F30E2C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Dr. Pitt with support from EPA developed the National Stormwater Database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0000000-0008-0000-0000-000005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26" y="2422740"/>
            <a:ext cx="2011680" cy="81263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125AD87-2F8C-F821-8217-234286FABE17}"/>
              </a:ext>
            </a:extLst>
          </p:cNvPr>
          <p:cNvSpPr txBox="1"/>
          <p:nvPr/>
        </p:nvSpPr>
        <p:spPr>
          <a:xfrm>
            <a:off x="2404891" y="2527486"/>
            <a:ext cx="8696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National Stormwater Quality Database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2BA745-B993-4F9E-6702-41B6FCB3309D}"/>
              </a:ext>
            </a:extLst>
          </p:cNvPr>
          <p:cNvSpPr txBox="1"/>
          <p:nvPr/>
        </p:nvSpPr>
        <p:spPr>
          <a:xfrm>
            <a:off x="1899621" y="4116047"/>
            <a:ext cx="20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200 municipalities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D86838-87C7-78A6-5B20-0A04424D2D1A}"/>
              </a:ext>
            </a:extLst>
          </p:cNvPr>
          <p:cNvSpPr txBox="1"/>
          <p:nvPr/>
        </p:nvSpPr>
        <p:spPr>
          <a:xfrm>
            <a:off x="1899621" y="4671457"/>
            <a:ext cx="2111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9,000 runoff events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FA8A53-79B4-2B47-0F92-E7268D562849}"/>
              </a:ext>
            </a:extLst>
          </p:cNvPr>
          <p:cNvSpPr txBox="1"/>
          <p:nvPr/>
        </p:nvSpPr>
        <p:spPr>
          <a:xfrm>
            <a:off x="1901405" y="3618041"/>
            <a:ext cx="3015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NPDES monitoring programs</a:t>
            </a:r>
          </a:p>
        </p:txBody>
      </p:sp>
      <p:pic>
        <p:nvPicPr>
          <p:cNvPr id="35" name="Picture 34" descr="A map of the united states with black dots and white text&#10;&#10;AI-generated content may be incorrect.">
            <a:extLst>
              <a:ext uri="{FF2B5EF4-FFF2-40B4-BE49-F238E27FC236}">
                <a16:creationId xmlns:a16="http://schemas.microsoft.com/office/drawing/2014/main" id="{A08DB5CF-551C-F23E-6FFE-E110F369B1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016" y="3481373"/>
            <a:ext cx="4959605" cy="303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854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46C82-ACD7-AF63-5E72-24F9D81EE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C83D5EC-9FC8-3721-D67D-6596A0923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A271D1-FC81-3DB0-BCD0-3A8DB9DA5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1E21C1-3803-2617-8222-3BE531943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26798B-8D8A-3244-0153-3B55BB266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CB28AF-B370-8B70-03DC-BB653AC2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Libraries / Packages</a:t>
            </a:r>
            <a:endParaRPr lang="en-US" dirty="0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0F8AA633-B43D-4C86-EA50-2CB33C21A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079" y="2835060"/>
            <a:ext cx="2525841" cy="1090482"/>
          </a:xfrm>
          <a:prstGeom prst="rect">
            <a:avLst/>
          </a:prstGeom>
        </p:spPr>
      </p:pic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0A7983E3-591A-C720-3E03-8C3F6B7B6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665" y="2726523"/>
            <a:ext cx="2187400" cy="1199019"/>
          </a:xfrm>
          <a:prstGeom prst="rect">
            <a:avLst/>
          </a:prstGeom>
        </p:spPr>
      </p:pic>
      <p:pic>
        <p:nvPicPr>
          <p:cNvPr id="7" name="Picture 6" descr="A black and grey logo&#10;&#10;AI-generated content may be incorrect.">
            <a:extLst>
              <a:ext uri="{FF2B5EF4-FFF2-40B4-BE49-F238E27FC236}">
                <a16:creationId xmlns:a16="http://schemas.microsoft.com/office/drawing/2014/main" id="{4D426AE6-9699-1C97-F153-2AD04FFD34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811" y="2781462"/>
            <a:ext cx="3429492" cy="1144079"/>
          </a:xfrm>
          <a:prstGeom prst="rect">
            <a:avLst/>
          </a:prstGeom>
        </p:spPr>
      </p:pic>
      <p:pic>
        <p:nvPicPr>
          <p:cNvPr id="9" name="Picture 8" descr="A blue and orange circle with black text&#10;&#10;AI-generated content may be incorrect.">
            <a:extLst>
              <a:ext uri="{FF2B5EF4-FFF2-40B4-BE49-F238E27FC236}">
                <a16:creationId xmlns:a16="http://schemas.microsoft.com/office/drawing/2014/main" id="{E0AF60C4-64CF-7D00-D2EB-E25922DA53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120" y="4406166"/>
            <a:ext cx="2266545" cy="1661504"/>
          </a:xfrm>
          <a:prstGeom prst="rect">
            <a:avLst/>
          </a:prstGeom>
        </p:spPr>
      </p:pic>
      <p:pic>
        <p:nvPicPr>
          <p:cNvPr id="11" name="Picture 10" descr="A hexagon with colorful lines&#10;&#10;AI-generated content may be incorrect.">
            <a:extLst>
              <a:ext uri="{FF2B5EF4-FFF2-40B4-BE49-F238E27FC236}">
                <a16:creationId xmlns:a16="http://schemas.microsoft.com/office/drawing/2014/main" id="{D651EDBC-96BE-520C-B66D-FDABDAC48D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065" y="4480753"/>
            <a:ext cx="1936069" cy="166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563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AD8ACA-08D9-00B5-B49B-8883EBA4D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194E3DE-BA06-260C-3767-FB6AB56E1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D92FEA-E730-F592-A1E3-30663C39A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30B94A-691D-A1D0-DBD0-E122795BF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AD7058-0BB2-4D2B-A14F-522081166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6E2EFF-8227-9B71-C66B-60815E1D4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Pipeline</a:t>
            </a:r>
            <a:endParaRPr lang="en-US" dirty="0"/>
          </a:p>
        </p:txBody>
      </p: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A313C666-ACEA-DBD9-56FC-FE4DBCCFB434}"/>
              </a:ext>
            </a:extLst>
          </p:cNvPr>
          <p:cNvSpPr/>
          <p:nvPr/>
        </p:nvSpPr>
        <p:spPr>
          <a:xfrm>
            <a:off x="4071487" y="2534554"/>
            <a:ext cx="2569945" cy="214162"/>
          </a:xfrm>
          <a:prstGeom prst="flowChartProcess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Original Data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004EF999-257C-DDC2-DDE9-7FFC4D64938F}"/>
              </a:ext>
            </a:extLst>
          </p:cNvPr>
          <p:cNvSpPr/>
          <p:nvPr/>
        </p:nvSpPr>
        <p:spPr>
          <a:xfrm>
            <a:off x="4071486" y="3214838"/>
            <a:ext cx="2569945" cy="214162"/>
          </a:xfrm>
          <a:prstGeom prst="flowChartProcess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Pre-processing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4E6F4443-80A0-D3A2-2DCC-1528739A91CB}"/>
              </a:ext>
            </a:extLst>
          </p:cNvPr>
          <p:cNvSpPr/>
          <p:nvPr/>
        </p:nvSpPr>
        <p:spPr>
          <a:xfrm>
            <a:off x="2403108" y="3895122"/>
            <a:ext cx="4238323" cy="204248"/>
          </a:xfrm>
          <a:prstGeom prst="flowChartProcess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Training Data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B94253CB-E2E8-5E27-883D-20E0EDD078C9}"/>
              </a:ext>
            </a:extLst>
          </p:cNvPr>
          <p:cNvSpPr/>
          <p:nvPr/>
        </p:nvSpPr>
        <p:spPr>
          <a:xfrm>
            <a:off x="8434939" y="3891435"/>
            <a:ext cx="1527208" cy="214162"/>
          </a:xfrm>
          <a:prstGeom prst="flowChartProcess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Test Data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5634C638-D80A-5422-B369-B6973A26928C}"/>
              </a:ext>
            </a:extLst>
          </p:cNvPr>
          <p:cNvSpPr/>
          <p:nvPr/>
        </p:nvSpPr>
        <p:spPr>
          <a:xfrm>
            <a:off x="6689958" y="3891435"/>
            <a:ext cx="1284973" cy="204248"/>
          </a:xfrm>
          <a:prstGeom prst="flowChartProcess">
            <a:avLst/>
          </a:prstGeom>
          <a:pattFill prst="wdDnDiag">
            <a:fgClr>
              <a:schemeClr val="tx2">
                <a:lumMod val="50000"/>
                <a:lumOff val="50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Validation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A8F089E-F7A0-4000-4928-425CCA4A5A48}"/>
              </a:ext>
            </a:extLst>
          </p:cNvPr>
          <p:cNvCxnSpPr>
            <a:cxnSpLocks/>
          </p:cNvCxnSpPr>
          <p:nvPr/>
        </p:nvCxnSpPr>
        <p:spPr>
          <a:xfrm>
            <a:off x="5356458" y="2748716"/>
            <a:ext cx="0" cy="3987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33C6F8A-87E6-FB73-1B57-001211382BDE}"/>
              </a:ext>
            </a:extLst>
          </p:cNvPr>
          <p:cNvCxnSpPr/>
          <p:nvPr/>
        </p:nvCxnSpPr>
        <p:spPr>
          <a:xfrm>
            <a:off x="5356458" y="3521566"/>
            <a:ext cx="0" cy="369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CEF7E85-99E3-D1EE-FC27-488A1AF7922A}"/>
              </a:ext>
            </a:extLst>
          </p:cNvPr>
          <p:cNvCxnSpPr/>
          <p:nvPr/>
        </p:nvCxnSpPr>
        <p:spPr>
          <a:xfrm>
            <a:off x="5356458" y="4173255"/>
            <a:ext cx="0" cy="369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CAE8409-EFCE-18E2-ABDD-F284002DBFA5}"/>
              </a:ext>
            </a:extLst>
          </p:cNvPr>
          <p:cNvCxnSpPr/>
          <p:nvPr/>
        </p:nvCxnSpPr>
        <p:spPr>
          <a:xfrm>
            <a:off x="5359663" y="5744931"/>
            <a:ext cx="0" cy="369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52732F0-BB69-D973-AB69-969408A642C2}"/>
              </a:ext>
            </a:extLst>
          </p:cNvPr>
          <p:cNvCxnSpPr/>
          <p:nvPr/>
        </p:nvCxnSpPr>
        <p:spPr>
          <a:xfrm>
            <a:off x="5370891" y="5030957"/>
            <a:ext cx="0" cy="369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51379E2D-5C88-02A3-F43F-00D059D1AAFF}"/>
              </a:ext>
            </a:extLst>
          </p:cNvPr>
          <p:cNvSpPr/>
          <p:nvPr/>
        </p:nvSpPr>
        <p:spPr>
          <a:xfrm>
            <a:off x="4713971" y="4734100"/>
            <a:ext cx="1284973" cy="204248"/>
          </a:xfrm>
          <a:prstGeom prst="flowChartProcess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26" name="Flowchart: Process 25">
            <a:extLst>
              <a:ext uri="{FF2B5EF4-FFF2-40B4-BE49-F238E27FC236}">
                <a16:creationId xmlns:a16="http://schemas.microsoft.com/office/drawing/2014/main" id="{36233F9A-93E7-B859-8BB6-35562BBB0B15}"/>
              </a:ext>
            </a:extLst>
          </p:cNvPr>
          <p:cNvSpPr/>
          <p:nvPr/>
        </p:nvSpPr>
        <p:spPr>
          <a:xfrm>
            <a:off x="4713970" y="5400826"/>
            <a:ext cx="1284973" cy="204248"/>
          </a:xfrm>
          <a:prstGeom prst="flowChartProcess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Evaluate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8A9A390-8B05-9912-81B3-F57F48F18D18}"/>
              </a:ext>
            </a:extLst>
          </p:cNvPr>
          <p:cNvCxnSpPr>
            <a:cxnSpLocks/>
          </p:cNvCxnSpPr>
          <p:nvPr/>
        </p:nvCxnSpPr>
        <p:spPr>
          <a:xfrm>
            <a:off x="7283917" y="4173255"/>
            <a:ext cx="0" cy="13296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27B47C5-97BE-9DB3-33D7-D6755A4991F0}"/>
              </a:ext>
            </a:extLst>
          </p:cNvPr>
          <p:cNvCxnSpPr/>
          <p:nvPr/>
        </p:nvCxnSpPr>
        <p:spPr>
          <a:xfrm flipH="1">
            <a:off x="6096000" y="5502950"/>
            <a:ext cx="1187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chart: Process 34">
            <a:extLst>
              <a:ext uri="{FF2B5EF4-FFF2-40B4-BE49-F238E27FC236}">
                <a16:creationId xmlns:a16="http://schemas.microsoft.com/office/drawing/2014/main" id="{99837A27-8141-B1AD-DAB6-60A8116C4115}"/>
              </a:ext>
            </a:extLst>
          </p:cNvPr>
          <p:cNvSpPr/>
          <p:nvPr/>
        </p:nvSpPr>
        <p:spPr>
          <a:xfrm>
            <a:off x="4728404" y="6268043"/>
            <a:ext cx="1284973" cy="204248"/>
          </a:xfrm>
          <a:prstGeom prst="flowChartProcess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Predict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300EF1F-AB37-BE3C-42D4-6F9F7F553BC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98543" y="4105597"/>
            <a:ext cx="0" cy="22645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F84BFAF-E091-F616-042E-0B3CE5596BD6}"/>
              </a:ext>
            </a:extLst>
          </p:cNvPr>
          <p:cNvCxnSpPr/>
          <p:nvPr/>
        </p:nvCxnSpPr>
        <p:spPr>
          <a:xfrm flipH="1">
            <a:off x="6096000" y="6370167"/>
            <a:ext cx="31025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FC9AED-C949-652B-976A-AEDF34BA5F42}"/>
              </a:ext>
            </a:extLst>
          </p:cNvPr>
          <p:cNvCxnSpPr>
            <a:stCxn id="26" idx="1"/>
          </p:cNvCxnSpPr>
          <p:nvPr/>
        </p:nvCxnSpPr>
        <p:spPr>
          <a:xfrm flipH="1">
            <a:off x="4167739" y="5502950"/>
            <a:ext cx="5462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D9BC701-EDEE-B45F-B7EA-CBA47950F93A}"/>
              </a:ext>
            </a:extLst>
          </p:cNvPr>
          <p:cNvCxnSpPr/>
          <p:nvPr/>
        </p:nvCxnSpPr>
        <p:spPr>
          <a:xfrm flipV="1">
            <a:off x="4167739" y="4836224"/>
            <a:ext cx="0" cy="6667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C67E580-3C2F-D1AE-6F56-C8E4DC1E2436}"/>
              </a:ext>
            </a:extLst>
          </p:cNvPr>
          <p:cNvCxnSpPr>
            <a:endCxn id="24" idx="1"/>
          </p:cNvCxnSpPr>
          <p:nvPr/>
        </p:nvCxnSpPr>
        <p:spPr>
          <a:xfrm>
            <a:off x="4167739" y="4836224"/>
            <a:ext cx="5462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373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4337F-0959-9383-B195-C0A4ED80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5A98055-2793-F6E3-73E8-36E3FFD08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2D25DE-E5F1-967B-059E-92E46A62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E3CDAF-95DC-B3CE-D2F3-E1944033A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CE2EFA-7A68-B0E0-0B79-CBD83432E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E7E42D-1536-56DD-58AC-03997309C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Cleaning the data by handling missing values non-numeric values and categorical data.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8EC5CC-E8D7-F603-5B87-7A3C7BAF2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334615"/>
              </p:ext>
            </p:extLst>
          </p:nvPr>
        </p:nvGraphicFramePr>
        <p:xfrm>
          <a:off x="2002221" y="3428999"/>
          <a:ext cx="8129203" cy="1514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611">
                  <a:extLst>
                    <a:ext uri="{9D8B030D-6E8A-4147-A177-3AD203B41FA5}">
                      <a16:colId xmlns:a16="http://schemas.microsoft.com/office/drawing/2014/main" val="985915439"/>
                    </a:ext>
                  </a:extLst>
                </a:gridCol>
                <a:gridCol w="1625648">
                  <a:extLst>
                    <a:ext uri="{9D8B030D-6E8A-4147-A177-3AD203B41FA5}">
                      <a16:colId xmlns:a16="http://schemas.microsoft.com/office/drawing/2014/main" val="3802324928"/>
                    </a:ext>
                  </a:extLst>
                </a:gridCol>
                <a:gridCol w="1625648">
                  <a:extLst>
                    <a:ext uri="{9D8B030D-6E8A-4147-A177-3AD203B41FA5}">
                      <a16:colId xmlns:a16="http://schemas.microsoft.com/office/drawing/2014/main" val="1425092975"/>
                    </a:ext>
                  </a:extLst>
                </a:gridCol>
                <a:gridCol w="1625648">
                  <a:extLst>
                    <a:ext uri="{9D8B030D-6E8A-4147-A177-3AD203B41FA5}">
                      <a16:colId xmlns:a16="http://schemas.microsoft.com/office/drawing/2014/main" val="2558210452"/>
                    </a:ext>
                  </a:extLst>
                </a:gridCol>
                <a:gridCol w="1625648">
                  <a:extLst>
                    <a:ext uri="{9D8B030D-6E8A-4147-A177-3AD203B41FA5}">
                      <a16:colId xmlns:a16="http://schemas.microsoft.com/office/drawing/2014/main" val="1282034942"/>
                    </a:ext>
                  </a:extLst>
                </a:gridCol>
              </a:tblGrid>
              <a:tr h="378619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031452"/>
                  </a:ext>
                </a:extLst>
              </a:tr>
              <a:tr h="37861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&lt;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281717"/>
                  </a:ext>
                </a:extLst>
              </a:tr>
              <a:tr h="3786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&lt;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WI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153721"/>
                  </a:ext>
                </a:extLst>
              </a:tr>
              <a:tr h="37861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&lt;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803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637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FD44C6-CC17-E8A4-AB71-3C358DDA0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701D43-6782-A2A6-322E-603FE62E8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Total suspended solids data is right skewed with numerous outliers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8EEF2F-6288-BF0B-9722-3C367595A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851" y="1875442"/>
            <a:ext cx="5076456" cy="2239702"/>
          </a:xfrm>
          <a:prstGeom prst="rect">
            <a:avLst/>
          </a:prstGeom>
        </p:spPr>
      </p:pic>
      <p:pic>
        <p:nvPicPr>
          <p:cNvPr id="6" name="Picture 5" descr="A blue line on a white background&#10;&#10;AI-generated content may be incorrect.">
            <a:extLst>
              <a:ext uri="{FF2B5EF4-FFF2-40B4-BE49-F238E27FC236}">
                <a16:creationId xmlns:a16="http://schemas.microsoft.com/office/drawing/2014/main" id="{D6B10A92-E04F-7BAF-7D66-6B2EABA689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004" y="4115144"/>
            <a:ext cx="5041562" cy="2334986"/>
          </a:xfrm>
          <a:prstGeom prst="rect">
            <a:avLst/>
          </a:prstGeom>
        </p:spPr>
      </p:pic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62BE719-6651-5015-A27A-297C0D7595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33" y="2743544"/>
            <a:ext cx="411480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311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1294C-AEA9-EDEA-2806-47A2D8187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88F3E96-A5B8-FFBF-60F9-90D69A6C0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96BF54-7C50-5EE3-0C5D-AA971F3E04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7B8751-7C8A-3939-C46C-E9A84B4FF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1F57F6-124E-D0F3-F1E0-E84C9B548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E18F3B-2C2A-31B9-C5FC-77A5677E0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Phosphorus data is right skewed with numerous outliers</a:t>
            </a:r>
          </a:p>
        </p:txBody>
      </p:sp>
      <p:pic>
        <p:nvPicPr>
          <p:cNvPr id="5" name="Picture 4" descr="A white rectangular object with orange dots&#10;&#10;AI-generated content may be incorrect.">
            <a:extLst>
              <a:ext uri="{FF2B5EF4-FFF2-40B4-BE49-F238E27FC236}">
                <a16:creationId xmlns:a16="http://schemas.microsoft.com/office/drawing/2014/main" id="{32E75B7C-9F05-6B64-3C21-B86476BBD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037" y="1669295"/>
            <a:ext cx="5570394" cy="2547436"/>
          </a:xfrm>
          <a:prstGeom prst="rect">
            <a:avLst/>
          </a:prstGeom>
        </p:spPr>
      </p:pic>
      <p:pic>
        <p:nvPicPr>
          <p:cNvPr id="7" name="Picture 6" descr="A graph of a number of dots&#10;&#10;AI-generated content may be incorrect.">
            <a:extLst>
              <a:ext uri="{FF2B5EF4-FFF2-40B4-BE49-F238E27FC236}">
                <a16:creationId xmlns:a16="http://schemas.microsoft.com/office/drawing/2014/main" id="{0619F387-4BD2-5D5B-2983-67FD003A4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749" y="4009868"/>
            <a:ext cx="5454970" cy="2494652"/>
          </a:xfrm>
          <a:prstGeom prst="rect">
            <a:avLst/>
          </a:prstGeom>
        </p:spPr>
      </p:pic>
      <p:pic>
        <p:nvPicPr>
          <p:cNvPr id="9" name="Picture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47CEDDE-E1C6-547F-4815-B8971F8B89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263" y="2638268"/>
            <a:ext cx="4114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822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889EB4-913E-4712-21A7-87117D2ED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C2E6B1-B534-9B5D-0365-5FD0F6B81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B1DCBD-87B1-FA92-C787-9A5004F9D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77C89A-C4F3-CBD8-CD0C-359AE589C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909367-543F-81C2-F20C-14263732F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01649-BB1A-4B8F-ED63-83834283E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Nitrate data is right skewed High number of value 0.</a:t>
            </a:r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8D723921-8555-D81B-8D82-C891684BF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934" y="1611799"/>
            <a:ext cx="5281846" cy="2415478"/>
          </a:xfrm>
          <a:prstGeom prst="rect">
            <a:avLst/>
          </a:prstGeom>
        </p:spPr>
      </p:pic>
      <p:pic>
        <p:nvPicPr>
          <p:cNvPr id="9" name="Picture 8" descr="A graph with numbers and dots&#10;&#10;AI-generated content may be incorrect.">
            <a:extLst>
              <a:ext uri="{FF2B5EF4-FFF2-40B4-BE49-F238E27FC236}">
                <a16:creationId xmlns:a16="http://schemas.microsoft.com/office/drawing/2014/main" id="{FB8A7AAB-5779-757D-02D6-257F972093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946" y="3909121"/>
            <a:ext cx="5383822" cy="2462112"/>
          </a:xfrm>
          <a:prstGeom prst="rect">
            <a:avLst/>
          </a:prstGeom>
        </p:spPr>
      </p:pic>
      <p:pic>
        <p:nvPicPr>
          <p:cNvPr id="11" name="Picture 1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3FE1ADD-30FC-8547-75FB-1F2E8B2BBF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52" y="2537521"/>
            <a:ext cx="4114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53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43D170-1AB7-5527-6145-97BF54C60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8B6A6F-F636-8349-C8AC-4DF195511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Feature Engineering</a:t>
            </a:r>
          </a:p>
        </p:txBody>
      </p:sp>
      <p:pic>
        <p:nvPicPr>
          <p:cNvPr id="11" name="Graphic 10" descr="Gears with solid fill">
            <a:extLst>
              <a:ext uri="{FF2B5EF4-FFF2-40B4-BE49-F238E27FC236}">
                <a16:creationId xmlns:a16="http://schemas.microsoft.com/office/drawing/2014/main" id="{4E357835-7094-E27C-8F45-812A81DAA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3318" y="2104763"/>
            <a:ext cx="2497258" cy="2497258"/>
          </a:xfrm>
          <a:prstGeom prst="rect">
            <a:avLst/>
          </a:prstGeom>
        </p:spPr>
      </p:pic>
      <p:pic>
        <p:nvPicPr>
          <p:cNvPr id="5" name="Graphic 4" descr="Database with solid fill">
            <a:extLst>
              <a:ext uri="{FF2B5EF4-FFF2-40B4-BE49-F238E27FC236}">
                <a16:creationId xmlns:a16="http://schemas.microsoft.com/office/drawing/2014/main" id="{2F8679FF-D152-6991-7F9D-483D14F047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1089" y="1928621"/>
            <a:ext cx="2602671" cy="26026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FBD0708-DF5C-3ECF-93DA-FB65BE9C27BE}"/>
              </a:ext>
            </a:extLst>
          </p:cNvPr>
          <p:cNvSpPr txBox="1"/>
          <p:nvPr/>
        </p:nvSpPr>
        <p:spPr>
          <a:xfrm>
            <a:off x="1483172" y="4736363"/>
            <a:ext cx="1139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FBCA5F-48C1-1F80-08CB-7C7E084DB7F6}"/>
              </a:ext>
            </a:extLst>
          </p:cNvPr>
          <p:cNvSpPr txBox="1"/>
          <p:nvPr/>
        </p:nvSpPr>
        <p:spPr>
          <a:xfrm>
            <a:off x="4818508" y="4736363"/>
            <a:ext cx="1688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Transformation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4774F0-6EE7-CD5A-03DE-046B5F0B5BF7}"/>
              </a:ext>
            </a:extLst>
          </p:cNvPr>
          <p:cNvSpPr txBox="1"/>
          <p:nvPr/>
        </p:nvSpPr>
        <p:spPr>
          <a:xfrm>
            <a:off x="8955970" y="4736363"/>
            <a:ext cx="1444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Feature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ED57F49-B986-6CD7-996E-D901D5A903D9}"/>
              </a:ext>
            </a:extLst>
          </p:cNvPr>
          <p:cNvCxnSpPr/>
          <p:nvPr/>
        </p:nvCxnSpPr>
        <p:spPr>
          <a:xfrm>
            <a:off x="3154110" y="3353392"/>
            <a:ext cx="15272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AE9B4C0-D2EB-F8BB-EC76-AEB413634503}"/>
              </a:ext>
            </a:extLst>
          </p:cNvPr>
          <p:cNvCxnSpPr/>
          <p:nvPr/>
        </p:nvCxnSpPr>
        <p:spPr>
          <a:xfrm>
            <a:off x="6887102" y="3353391"/>
            <a:ext cx="15272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5D9A52DA-B177-74BD-F117-0A8DAB1EA66A}"/>
              </a:ext>
            </a:extLst>
          </p:cNvPr>
          <p:cNvSpPr/>
          <p:nvPr/>
        </p:nvSpPr>
        <p:spPr>
          <a:xfrm>
            <a:off x="8905688" y="2701742"/>
            <a:ext cx="1527242" cy="1303299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1939F06-9E9F-A2B0-33B6-2EC72C6BF4F5}"/>
                  </a:ext>
                </a:extLst>
              </p14:cNvPr>
              <p14:cNvContentPartPr/>
              <p14:nvPr/>
            </p14:nvContentPartPr>
            <p14:xfrm>
              <a:off x="9678091" y="3422349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1939F06-9E9F-A2B0-33B6-2EC72C6BF4F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60091" y="3404349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8CA9D8A-4CF9-883E-7BC1-D079667ED1DE}"/>
              </a:ext>
            </a:extLst>
          </p:cNvPr>
          <p:cNvSpPr txBox="1"/>
          <p:nvPr/>
        </p:nvSpPr>
        <p:spPr>
          <a:xfrm>
            <a:off x="3154110" y="5850649"/>
            <a:ext cx="5649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Runoff coefficient = Runoff (in) / Precipitation Depth (in)</a:t>
            </a:r>
          </a:p>
        </p:txBody>
      </p:sp>
    </p:spTree>
    <p:extLst>
      <p:ext uri="{BB962C8B-B14F-4D97-AF65-F5344CB8AC3E}">
        <p14:creationId xmlns:p14="http://schemas.microsoft.com/office/powerpoint/2010/main" val="123137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6F5996-FDCB-CD9A-68C2-6364BD0EA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71247D9-4F86-6C50-D9D1-ED8D472EF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C9E127-178B-3A2B-5CAC-E29113C17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F6E191-F3B1-48B7-B9BC-145470B18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6BABB9-D053-D8A1-98CB-3B90239F3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5CE902-B1D2-5F09-EB66-D40EF995E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Feature Selection – Total Suspended Solids</a:t>
            </a:r>
          </a:p>
        </p:txBody>
      </p:sp>
      <p:pic>
        <p:nvPicPr>
          <p:cNvPr id="5" name="Picture 4" descr="A graph with text on it&#10;&#10;AI-generated content may be incorrect.">
            <a:extLst>
              <a:ext uri="{FF2B5EF4-FFF2-40B4-BE49-F238E27FC236}">
                <a16:creationId xmlns:a16="http://schemas.microsoft.com/office/drawing/2014/main" id="{6C453620-03D0-36F8-F469-1063E2F64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69" y="2750295"/>
            <a:ext cx="5695059" cy="3758840"/>
          </a:xfrm>
          <a:prstGeom prst="rect">
            <a:avLst/>
          </a:prstGeom>
        </p:spPr>
      </p:pic>
      <p:pic>
        <p:nvPicPr>
          <p:cNvPr id="11" name="Picture 10" descr="A computer screen shot of white text&#10;&#10;AI-generated content may be incorrect.">
            <a:extLst>
              <a:ext uri="{FF2B5EF4-FFF2-40B4-BE49-F238E27FC236}">
                <a16:creationId xmlns:a16="http://schemas.microsoft.com/office/drawing/2014/main" id="{658E5E92-4614-46DB-FB24-B7F97B7588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013" y="3088798"/>
            <a:ext cx="4330923" cy="12764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83BB0C8-DEC9-65A5-989E-C22B6434369A}"/>
              </a:ext>
            </a:extLst>
          </p:cNvPr>
          <p:cNvSpPr txBox="1"/>
          <p:nvPr/>
        </p:nvSpPr>
        <p:spPr>
          <a:xfrm>
            <a:off x="7597302" y="2026932"/>
            <a:ext cx="3140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Recursive Feature Elimination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03E53B-E312-3E65-A567-8514044B2DD1}"/>
              </a:ext>
            </a:extLst>
          </p:cNvPr>
          <p:cNvSpPr txBox="1"/>
          <p:nvPr/>
        </p:nvSpPr>
        <p:spPr>
          <a:xfrm>
            <a:off x="1454351" y="2026932"/>
            <a:ext cx="3495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Random Forest 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2370891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78BDA-A059-2F11-A6A1-DDCDA7895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2C321F2-3D04-2CF0-1692-3822F1B4E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C4C3DC-8F8B-756D-1013-62D5CCC98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6B285B-F452-626C-1B76-964CFBB13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A9F9EB-10E0-31A6-0198-2909B6686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9B7752-C801-B0B2-316E-C864E71F1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Feature Selection - Phosphorus</a:t>
            </a:r>
          </a:p>
        </p:txBody>
      </p:sp>
      <p:pic>
        <p:nvPicPr>
          <p:cNvPr id="4" name="Picture 3" descr="A graph with text on it&#10;&#10;AI-generated content may be incorrect.">
            <a:extLst>
              <a:ext uri="{FF2B5EF4-FFF2-40B4-BE49-F238E27FC236}">
                <a16:creationId xmlns:a16="http://schemas.microsoft.com/office/drawing/2014/main" id="{33ED041F-F082-2D45-AE5D-E49564FC3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05" y="3088027"/>
            <a:ext cx="7157149" cy="3125657"/>
          </a:xfrm>
          <a:prstGeom prst="rect">
            <a:avLst/>
          </a:prstGeom>
        </p:spPr>
      </p:pic>
      <p:pic>
        <p:nvPicPr>
          <p:cNvPr id="7" name="Picture 6" descr="A computer screen shot of white text&#10;&#10;AI-generated content may be incorrect.">
            <a:extLst>
              <a:ext uri="{FF2B5EF4-FFF2-40B4-BE49-F238E27FC236}">
                <a16:creationId xmlns:a16="http://schemas.microsoft.com/office/drawing/2014/main" id="{4A6E0349-E21C-0FBB-6362-057B64D97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359" y="3291885"/>
            <a:ext cx="3664138" cy="13589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8496A5-3B22-F273-CF9F-DBB4FFD7DCE3}"/>
              </a:ext>
            </a:extLst>
          </p:cNvPr>
          <p:cNvSpPr txBox="1"/>
          <p:nvPr/>
        </p:nvSpPr>
        <p:spPr>
          <a:xfrm>
            <a:off x="2230049" y="2259045"/>
            <a:ext cx="3495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Random Forest Feature Selection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2C9594-B284-0441-E065-39C9D8B4A53A}"/>
              </a:ext>
            </a:extLst>
          </p:cNvPr>
          <p:cNvSpPr txBox="1"/>
          <p:nvPr/>
        </p:nvSpPr>
        <p:spPr>
          <a:xfrm>
            <a:off x="8390752" y="2259045"/>
            <a:ext cx="3140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Recursive Feature Elimination</a:t>
            </a:r>
          </a:p>
        </p:txBody>
      </p:sp>
    </p:spTree>
    <p:extLst>
      <p:ext uri="{BB962C8B-B14F-4D97-AF65-F5344CB8AC3E}">
        <p14:creationId xmlns:p14="http://schemas.microsoft.com/office/powerpoint/2010/main" val="3789909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6C08A-3734-86C7-DD8F-CE33108AA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78A7B2B-1349-390E-CB06-94D897985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4F547A-5091-7123-72F0-5F1D64118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42F8A0-06EA-99EC-FEF1-93D369E93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C26E69-33A8-9E5F-3D01-3176DA899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E004E3-7758-E47A-A0A8-033956FA7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Feature Selection - Nitrate</a:t>
            </a:r>
          </a:p>
        </p:txBody>
      </p:sp>
      <p:pic>
        <p:nvPicPr>
          <p:cNvPr id="5" name="Picture 4" descr="A graph with a line&#10;&#10;AI-generated content may be incorrect.">
            <a:extLst>
              <a:ext uri="{FF2B5EF4-FFF2-40B4-BE49-F238E27FC236}">
                <a16:creationId xmlns:a16="http://schemas.microsoft.com/office/drawing/2014/main" id="{102FC293-8A34-8F99-627A-725BB1C48A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82" y="2815449"/>
            <a:ext cx="6985429" cy="3336587"/>
          </a:xfrm>
          <a:prstGeom prst="rect">
            <a:avLst/>
          </a:prstGeom>
        </p:spPr>
      </p:pic>
      <p:pic>
        <p:nvPicPr>
          <p:cNvPr id="8" name="Picture 7" descr="A computer screen shot of white text&#10;&#10;AI-generated content may be incorrect.">
            <a:extLst>
              <a:ext uri="{FF2B5EF4-FFF2-40B4-BE49-F238E27FC236}">
                <a16:creationId xmlns:a16="http://schemas.microsoft.com/office/drawing/2014/main" id="{209A84AF-CC24-7D4C-B2CF-78A8943CEE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290" y="3011856"/>
            <a:ext cx="4102311" cy="13399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8B4DFD-4B94-8FDC-68FF-99E9068690DD}"/>
              </a:ext>
            </a:extLst>
          </p:cNvPr>
          <p:cNvSpPr txBox="1"/>
          <p:nvPr/>
        </p:nvSpPr>
        <p:spPr>
          <a:xfrm>
            <a:off x="8275273" y="2109485"/>
            <a:ext cx="3140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Recursive Feature Elimination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E6BC38-8466-0FF2-8253-B00F8BA33887}"/>
              </a:ext>
            </a:extLst>
          </p:cNvPr>
          <p:cNvSpPr txBox="1"/>
          <p:nvPr/>
        </p:nvSpPr>
        <p:spPr>
          <a:xfrm>
            <a:off x="2113866" y="2109485"/>
            <a:ext cx="3495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Random Forest 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1030349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A463C-4FAA-B0A6-3924-65B0336BB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Random Forest Regression, Gradient Boosted Regression and BART</a:t>
            </a:r>
          </a:p>
        </p:txBody>
      </p:sp>
      <p:pic>
        <p:nvPicPr>
          <p:cNvPr id="8" name="Picture 7" descr="A diagram of a tree&#10;&#10;AI-generated content may be incorrect.">
            <a:extLst>
              <a:ext uri="{FF2B5EF4-FFF2-40B4-BE49-F238E27FC236}">
                <a16:creationId xmlns:a16="http://schemas.microsoft.com/office/drawing/2014/main" id="{CC7A7227-6FCD-76FC-F586-9AD99849D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88" y="3146221"/>
            <a:ext cx="3027907" cy="3000950"/>
          </a:xfrm>
          <a:prstGeom prst="rect">
            <a:avLst/>
          </a:prstGeom>
        </p:spPr>
      </p:pic>
      <p:pic>
        <p:nvPicPr>
          <p:cNvPr id="12" name="Picture 11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429D5812-B4FA-DA2F-6E2E-81CC19E5E4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453" y="2814987"/>
            <a:ext cx="3889547" cy="2803490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8A9D73B-D005-8530-F1C5-AB3F4BB79D1D}"/>
              </a:ext>
            </a:extLst>
          </p:cNvPr>
          <p:cNvCxnSpPr/>
          <p:nvPr/>
        </p:nvCxnSpPr>
        <p:spPr>
          <a:xfrm flipV="1">
            <a:off x="4365958" y="3267162"/>
            <a:ext cx="434538" cy="385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Graphic 35" descr="Database outline">
            <a:extLst>
              <a:ext uri="{FF2B5EF4-FFF2-40B4-BE49-F238E27FC236}">
                <a16:creationId xmlns:a16="http://schemas.microsoft.com/office/drawing/2014/main" id="{456AEC36-9D2C-087E-DF91-54938EDC37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46440" y="3628330"/>
            <a:ext cx="457200" cy="457200"/>
          </a:xfrm>
          <a:prstGeom prst="rect">
            <a:avLst/>
          </a:prstGeom>
        </p:spPr>
      </p:pic>
      <p:pic>
        <p:nvPicPr>
          <p:cNvPr id="37" name="Graphic 36" descr="Database outline">
            <a:extLst>
              <a:ext uri="{FF2B5EF4-FFF2-40B4-BE49-F238E27FC236}">
                <a16:creationId xmlns:a16="http://schemas.microsoft.com/office/drawing/2014/main" id="{6AC81B8D-D2DF-394A-BB08-79F3316F87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3158" y="4295979"/>
            <a:ext cx="457200" cy="457200"/>
          </a:xfrm>
          <a:prstGeom prst="rect">
            <a:avLst/>
          </a:prstGeom>
        </p:spPr>
      </p:pic>
      <p:pic>
        <p:nvPicPr>
          <p:cNvPr id="38" name="Graphic 37" descr="Database outline">
            <a:extLst>
              <a:ext uri="{FF2B5EF4-FFF2-40B4-BE49-F238E27FC236}">
                <a16:creationId xmlns:a16="http://schemas.microsoft.com/office/drawing/2014/main" id="{4ED81C32-D593-B140-CF22-E06BBAB820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3158" y="3622533"/>
            <a:ext cx="457200" cy="457200"/>
          </a:xfrm>
          <a:prstGeom prst="rect">
            <a:avLst/>
          </a:prstGeom>
        </p:spPr>
      </p:pic>
      <p:pic>
        <p:nvPicPr>
          <p:cNvPr id="39" name="Graphic 38" descr="Database outline">
            <a:extLst>
              <a:ext uri="{FF2B5EF4-FFF2-40B4-BE49-F238E27FC236}">
                <a16:creationId xmlns:a16="http://schemas.microsoft.com/office/drawing/2014/main" id="{405ABEB7-430B-FAB3-7C6C-25D0408FB5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3158" y="2949087"/>
            <a:ext cx="457200" cy="457200"/>
          </a:xfrm>
          <a:prstGeom prst="rect">
            <a:avLst/>
          </a:prstGeom>
        </p:spPr>
      </p:pic>
      <p:pic>
        <p:nvPicPr>
          <p:cNvPr id="49" name="Graphic 48" descr="Single gear outline">
            <a:extLst>
              <a:ext uri="{FF2B5EF4-FFF2-40B4-BE49-F238E27FC236}">
                <a16:creationId xmlns:a16="http://schemas.microsoft.com/office/drawing/2014/main" id="{94930AC0-A7A7-AD79-61C6-752BE5734E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67623" y="2927138"/>
            <a:ext cx="457200" cy="457200"/>
          </a:xfrm>
          <a:prstGeom prst="rect">
            <a:avLst/>
          </a:prstGeom>
        </p:spPr>
      </p:pic>
      <p:pic>
        <p:nvPicPr>
          <p:cNvPr id="50" name="Graphic 49" descr="Single gear outline">
            <a:extLst>
              <a:ext uri="{FF2B5EF4-FFF2-40B4-BE49-F238E27FC236}">
                <a16:creationId xmlns:a16="http://schemas.microsoft.com/office/drawing/2014/main" id="{D7C69A44-8167-F578-6A80-FF76D0B5F7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67623" y="3598037"/>
            <a:ext cx="457200" cy="457200"/>
          </a:xfrm>
          <a:prstGeom prst="rect">
            <a:avLst/>
          </a:prstGeom>
        </p:spPr>
      </p:pic>
      <p:pic>
        <p:nvPicPr>
          <p:cNvPr id="51" name="Graphic 50" descr="Single gear outline">
            <a:extLst>
              <a:ext uri="{FF2B5EF4-FFF2-40B4-BE49-F238E27FC236}">
                <a16:creationId xmlns:a16="http://schemas.microsoft.com/office/drawing/2014/main" id="{0DFCDA7C-548D-7BBF-952D-488C0F5A56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67623" y="4283837"/>
            <a:ext cx="457200" cy="457200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E8E6B2D-77A2-0D37-8CB0-F0DE9F4D76A6}"/>
              </a:ext>
            </a:extLst>
          </p:cNvPr>
          <p:cNvCxnSpPr/>
          <p:nvPr/>
        </p:nvCxnSpPr>
        <p:spPr>
          <a:xfrm>
            <a:off x="5280358" y="3155738"/>
            <a:ext cx="3872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E1D89DE-E560-18DC-C3A5-0BED730B9730}"/>
              </a:ext>
            </a:extLst>
          </p:cNvPr>
          <p:cNvCxnSpPr/>
          <p:nvPr/>
        </p:nvCxnSpPr>
        <p:spPr>
          <a:xfrm>
            <a:off x="5287692" y="3851133"/>
            <a:ext cx="3872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6D5EC86-E627-E1D4-96FB-3B363B475B32}"/>
              </a:ext>
            </a:extLst>
          </p:cNvPr>
          <p:cNvCxnSpPr/>
          <p:nvPr/>
        </p:nvCxnSpPr>
        <p:spPr>
          <a:xfrm>
            <a:off x="5287692" y="4512437"/>
            <a:ext cx="3872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4A1455A-2AC7-3E0E-8D23-A89A1F42A657}"/>
              </a:ext>
            </a:extLst>
          </p:cNvPr>
          <p:cNvCxnSpPr/>
          <p:nvPr/>
        </p:nvCxnSpPr>
        <p:spPr>
          <a:xfrm flipH="1">
            <a:off x="5203565" y="3267162"/>
            <a:ext cx="558266" cy="3854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5A7950C-0955-701F-C0B9-5C60B31B64D8}"/>
              </a:ext>
            </a:extLst>
          </p:cNvPr>
          <p:cNvCxnSpPr/>
          <p:nvPr/>
        </p:nvCxnSpPr>
        <p:spPr>
          <a:xfrm flipH="1">
            <a:off x="5191725" y="3978242"/>
            <a:ext cx="558266" cy="3854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Graphic 59" descr="Bullseye with solid fill">
            <a:extLst>
              <a:ext uri="{FF2B5EF4-FFF2-40B4-BE49-F238E27FC236}">
                <a16:creationId xmlns:a16="http://schemas.microsoft.com/office/drawing/2014/main" id="{99FF636A-D42F-D4A1-9FC2-7D06DE2436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88881" y="3598037"/>
            <a:ext cx="457200" cy="457200"/>
          </a:xfrm>
          <a:prstGeom prst="rect">
            <a:avLst/>
          </a:prstGeom>
        </p:spPr>
      </p:pic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48B1A5D-D3A6-8CAE-6E8C-9F7339920E55}"/>
              </a:ext>
            </a:extLst>
          </p:cNvPr>
          <p:cNvCxnSpPr>
            <a:stCxn id="49" idx="3"/>
          </p:cNvCxnSpPr>
          <p:nvPr/>
        </p:nvCxnSpPr>
        <p:spPr>
          <a:xfrm>
            <a:off x="6124823" y="3155738"/>
            <a:ext cx="503281" cy="496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280D4CF-4B3E-15AA-6FD0-AA5ACA70945A}"/>
              </a:ext>
            </a:extLst>
          </p:cNvPr>
          <p:cNvCxnSpPr/>
          <p:nvPr/>
        </p:nvCxnSpPr>
        <p:spPr>
          <a:xfrm>
            <a:off x="6124823" y="3851133"/>
            <a:ext cx="4640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9E1664E-4866-93E5-88BE-DD51476A5EFB}"/>
              </a:ext>
            </a:extLst>
          </p:cNvPr>
          <p:cNvCxnSpPr>
            <a:stCxn id="51" idx="3"/>
          </p:cNvCxnSpPr>
          <p:nvPr/>
        </p:nvCxnSpPr>
        <p:spPr>
          <a:xfrm flipV="1">
            <a:off x="6124823" y="4055237"/>
            <a:ext cx="589909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501521C4-6941-CFAB-4B37-FFE9CCDE0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906763"/>
              </p:ext>
            </p:extLst>
          </p:nvPr>
        </p:nvGraphicFramePr>
        <p:xfrm>
          <a:off x="125346" y="1721800"/>
          <a:ext cx="37040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409">
                  <a:extLst>
                    <a:ext uri="{9D8B030D-6E8A-4147-A177-3AD203B41FA5}">
                      <a16:colId xmlns:a16="http://schemas.microsoft.com/office/drawing/2014/main" val="3911388425"/>
                    </a:ext>
                  </a:extLst>
                </a:gridCol>
                <a:gridCol w="370409">
                  <a:extLst>
                    <a:ext uri="{9D8B030D-6E8A-4147-A177-3AD203B41FA5}">
                      <a16:colId xmlns:a16="http://schemas.microsoft.com/office/drawing/2014/main" val="2075600197"/>
                    </a:ext>
                  </a:extLst>
                </a:gridCol>
                <a:gridCol w="370409">
                  <a:extLst>
                    <a:ext uri="{9D8B030D-6E8A-4147-A177-3AD203B41FA5}">
                      <a16:colId xmlns:a16="http://schemas.microsoft.com/office/drawing/2014/main" val="3915229817"/>
                    </a:ext>
                  </a:extLst>
                </a:gridCol>
                <a:gridCol w="370409">
                  <a:extLst>
                    <a:ext uri="{9D8B030D-6E8A-4147-A177-3AD203B41FA5}">
                      <a16:colId xmlns:a16="http://schemas.microsoft.com/office/drawing/2014/main" val="2812803978"/>
                    </a:ext>
                  </a:extLst>
                </a:gridCol>
                <a:gridCol w="308761">
                  <a:extLst>
                    <a:ext uri="{9D8B030D-6E8A-4147-A177-3AD203B41FA5}">
                      <a16:colId xmlns:a16="http://schemas.microsoft.com/office/drawing/2014/main" val="1399489449"/>
                    </a:ext>
                  </a:extLst>
                </a:gridCol>
                <a:gridCol w="432056">
                  <a:extLst>
                    <a:ext uri="{9D8B030D-6E8A-4147-A177-3AD203B41FA5}">
                      <a16:colId xmlns:a16="http://schemas.microsoft.com/office/drawing/2014/main" val="2757689215"/>
                    </a:ext>
                  </a:extLst>
                </a:gridCol>
                <a:gridCol w="370409">
                  <a:extLst>
                    <a:ext uri="{9D8B030D-6E8A-4147-A177-3AD203B41FA5}">
                      <a16:colId xmlns:a16="http://schemas.microsoft.com/office/drawing/2014/main" val="837675667"/>
                    </a:ext>
                  </a:extLst>
                </a:gridCol>
                <a:gridCol w="370409">
                  <a:extLst>
                    <a:ext uri="{9D8B030D-6E8A-4147-A177-3AD203B41FA5}">
                      <a16:colId xmlns:a16="http://schemas.microsoft.com/office/drawing/2014/main" val="324681033"/>
                    </a:ext>
                  </a:extLst>
                </a:gridCol>
                <a:gridCol w="370409">
                  <a:extLst>
                    <a:ext uri="{9D8B030D-6E8A-4147-A177-3AD203B41FA5}">
                      <a16:colId xmlns:a16="http://schemas.microsoft.com/office/drawing/2014/main" val="2315143501"/>
                    </a:ext>
                  </a:extLst>
                </a:gridCol>
                <a:gridCol w="370409">
                  <a:extLst>
                    <a:ext uri="{9D8B030D-6E8A-4147-A177-3AD203B41FA5}">
                      <a16:colId xmlns:a16="http://schemas.microsoft.com/office/drawing/2014/main" val="1841525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800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662207"/>
                  </a:ext>
                </a:extLst>
              </a:tr>
            </a:tbl>
          </a:graphicData>
        </a:graphic>
      </p:graphicFrame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91B099C8-C621-5B1D-9672-14E7C60BD3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323944"/>
              </p:ext>
            </p:extLst>
          </p:nvPr>
        </p:nvGraphicFramePr>
        <p:xfrm>
          <a:off x="772853" y="2280175"/>
          <a:ext cx="21605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118">
                  <a:extLst>
                    <a:ext uri="{9D8B030D-6E8A-4147-A177-3AD203B41FA5}">
                      <a16:colId xmlns:a16="http://schemas.microsoft.com/office/drawing/2014/main" val="1840203607"/>
                    </a:ext>
                  </a:extLst>
                </a:gridCol>
                <a:gridCol w="432118">
                  <a:extLst>
                    <a:ext uri="{9D8B030D-6E8A-4147-A177-3AD203B41FA5}">
                      <a16:colId xmlns:a16="http://schemas.microsoft.com/office/drawing/2014/main" val="1263488866"/>
                    </a:ext>
                  </a:extLst>
                </a:gridCol>
                <a:gridCol w="432118">
                  <a:extLst>
                    <a:ext uri="{9D8B030D-6E8A-4147-A177-3AD203B41FA5}">
                      <a16:colId xmlns:a16="http://schemas.microsoft.com/office/drawing/2014/main" val="577525018"/>
                    </a:ext>
                  </a:extLst>
                </a:gridCol>
                <a:gridCol w="432118">
                  <a:extLst>
                    <a:ext uri="{9D8B030D-6E8A-4147-A177-3AD203B41FA5}">
                      <a16:colId xmlns:a16="http://schemas.microsoft.com/office/drawing/2014/main" val="3228306859"/>
                    </a:ext>
                  </a:extLst>
                </a:gridCol>
                <a:gridCol w="432118">
                  <a:extLst>
                    <a:ext uri="{9D8B030D-6E8A-4147-A177-3AD203B41FA5}">
                      <a16:colId xmlns:a16="http://schemas.microsoft.com/office/drawing/2014/main" val="42303207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800" dirty="0"/>
                        <a:t>P1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P10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686523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C0CF0F50-547F-B765-C12E-D385A251DAE1}"/>
              </a:ext>
            </a:extLst>
          </p:cNvPr>
          <p:cNvSpPr txBox="1"/>
          <p:nvPr/>
        </p:nvSpPr>
        <p:spPr>
          <a:xfrm>
            <a:off x="0" y="6273045"/>
            <a:ext cx="365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Random Forest Feature Regression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BC9A17F-35EE-2C19-8220-3EBA97E18143}"/>
              </a:ext>
            </a:extLst>
          </p:cNvPr>
          <p:cNvSpPr txBox="1"/>
          <p:nvPr/>
        </p:nvSpPr>
        <p:spPr>
          <a:xfrm>
            <a:off x="4225032" y="6262027"/>
            <a:ext cx="3073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Gradient Boosted Regression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FF9B0DD-6A1E-D1D5-36B3-B90BA51A7C64}"/>
              </a:ext>
            </a:extLst>
          </p:cNvPr>
          <p:cNvSpPr txBox="1"/>
          <p:nvPr/>
        </p:nvSpPr>
        <p:spPr>
          <a:xfrm>
            <a:off x="10160428" y="6263322"/>
            <a:ext cx="703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BART</a:t>
            </a:r>
          </a:p>
        </p:txBody>
      </p:sp>
    </p:spTree>
    <p:extLst>
      <p:ext uri="{BB962C8B-B14F-4D97-AF65-F5344CB8AC3E}">
        <p14:creationId xmlns:p14="http://schemas.microsoft.com/office/powerpoint/2010/main" val="516866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B349C0-997A-13A9-7E08-84A6D8F4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1962E84-E283-D001-EC4C-92E722CBD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E64DBA-918E-8A51-AABF-1AB001828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BF683E-CD72-67D4-11C2-B97929851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F2BB7CA-78B5-950A-B807-51A1CE02E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C3BD3-4C5B-C3AA-9DF5-FF1363A80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Cross-Validation / Hyperparameter Tuning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5586F1-72AD-E264-E758-08E93642BC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185" y="2173073"/>
            <a:ext cx="5255672" cy="408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232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EEAFD5-2C11-0CCD-C31B-46C2B630B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61A3577-36C9-9DC7-57A4-EF464E9D2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7FEAE9-18DC-35D9-92B6-59820DA94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586E77B-2B2A-C2D0-7B6C-4CAABFCB3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BCB4A21-593B-4651-ABA8-3BD0E736F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8B89F-6096-3680-BC25-1BD8D0F16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Total Suspended Solids Results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636601-2A30-20BD-2719-26FFFC8B4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37311"/>
              </p:ext>
            </p:extLst>
          </p:nvPr>
        </p:nvGraphicFramePr>
        <p:xfrm>
          <a:off x="1663785" y="2094334"/>
          <a:ext cx="8127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3206282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014930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436564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Gradient Boosted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843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154.28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142.33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141.685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39494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7D6C3C2-7ACB-28C2-86C0-A31BF79994C5}"/>
              </a:ext>
            </a:extLst>
          </p:cNvPr>
          <p:cNvSpPr txBox="1"/>
          <p:nvPr/>
        </p:nvSpPr>
        <p:spPr>
          <a:xfrm>
            <a:off x="0" y="1636962"/>
            <a:ext cx="5031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*Models evaluated using Root Mean Square Error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47138DE-B831-6741-8F7D-30368FD5A0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2223236"/>
              </p:ext>
            </p:extLst>
          </p:nvPr>
        </p:nvGraphicFramePr>
        <p:xfrm>
          <a:off x="3441784" y="335390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51544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E78DBF-D317-CBF1-609C-D398959D7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D609643-E29D-EAB6-98A9-DCD932D0D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BC7B9CB-3CEA-3C6B-7261-DBFF347D5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32B55FB-272F-F87A-08EE-8A38993AF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D73941-DCCC-EF80-139F-6E9BC6F54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E9B073-3EC5-ED99-930A-88F2B304C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Phosphorus Results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D40283-D9B1-6987-FBEC-5AD507D61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146946"/>
              </p:ext>
            </p:extLst>
          </p:nvPr>
        </p:nvGraphicFramePr>
        <p:xfrm>
          <a:off x="1663785" y="2094334"/>
          <a:ext cx="8127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3206282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014930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436564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Gradient Boosted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843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394945"/>
                  </a:ext>
                </a:extLst>
              </a:tr>
            </a:tbl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B731E2F-D1C2-C98F-8AEF-AA99DD86B0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354624"/>
              </p:ext>
            </p:extLst>
          </p:nvPr>
        </p:nvGraphicFramePr>
        <p:xfrm>
          <a:off x="3441784" y="343058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43062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2FF6C0-C257-1076-98A2-030C59FB8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2C19D53-7449-5F4E-33C2-D1D0701A8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86A45D6-E4D1-E5E4-E67B-F06567731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761659-CA54-B5F8-E56F-02D65FD93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6F1EE0-04DB-AA74-C6DF-133108DDB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E9540D-C52D-326A-40F6-404A1584F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Nitrate Results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E7FEE8-BC0C-D7C6-B0BA-F13395180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254886"/>
              </p:ext>
            </p:extLst>
          </p:nvPr>
        </p:nvGraphicFramePr>
        <p:xfrm>
          <a:off x="1663785" y="2094334"/>
          <a:ext cx="8127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3206282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014930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436564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Gradient Boosted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843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0.45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394945"/>
                  </a:ext>
                </a:extLst>
              </a:tr>
            </a:tbl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3246A4F-1A46-5D28-20C4-C9CB268447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6866344"/>
              </p:ext>
            </p:extLst>
          </p:nvPr>
        </p:nvGraphicFramePr>
        <p:xfrm>
          <a:off x="3441784" y="337402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0035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75C27C-2A5D-7F32-68EA-94F03FAE4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CA5AC97-E4A8-882D-A923-63CB9084C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7C0711-8468-31C1-C342-DB3F100F7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E0F062-2D86-2D68-2693-1CC5843A0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F6EEC69-210D-14FE-71CE-5CAFCBD0F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896598-E455-6F15-0F87-46593B7F6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Future Work</a:t>
            </a:r>
          </a:p>
        </p:txBody>
      </p:sp>
      <p:pic>
        <p:nvPicPr>
          <p:cNvPr id="6" name="Picture 5" descr="Clock and calendar on table">
            <a:extLst>
              <a:ext uri="{FF2B5EF4-FFF2-40B4-BE49-F238E27FC236}">
                <a16:creationId xmlns:a16="http://schemas.microsoft.com/office/drawing/2014/main" id="{46E62AA5-F639-B7CB-3742-FD935AC9E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395" y="2285999"/>
            <a:ext cx="4775013" cy="360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695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E2C1E2-8E6C-E8F3-FEE2-24E03A0D4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11D99D5-342B-DD99-5659-6575260D9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C17C3D7-2ADC-E039-AAF3-A5C54BE53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18312F-9622-2C1A-A913-9705DA909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21BEA6-4558-459B-29D7-42A78C41E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A2E73F-84F4-32A7-EFAA-4FD83F3BE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References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550076A-A325-81FC-84F7-854E6DD198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815030"/>
              </p:ext>
            </p:extLst>
          </p:nvPr>
        </p:nvGraphicFramePr>
        <p:xfrm>
          <a:off x="3128963" y="1922463"/>
          <a:ext cx="5883275" cy="312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940848" imgH="3163529" progId="Word.Document.12">
                  <p:embed/>
                </p:oleObj>
              </mc:Choice>
              <mc:Fallback>
                <p:oleObj name="Document" r:id="rId3" imgW="5940848" imgH="31635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8963" y="1922463"/>
                        <a:ext cx="5883275" cy="3121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7727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5585</TotalTime>
  <Words>1129</Words>
  <Application>Microsoft Office PowerPoint</Application>
  <PresentationFormat>Widescreen</PresentationFormat>
  <Paragraphs>253</Paragraphs>
  <Slides>21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Document</vt:lpstr>
      <vt:lpstr>Modeling Nutrient Concentrations in Urban Stormwater Runoff</vt:lpstr>
      <vt:lpstr>Urbanization increases nutrient levels in runoff, negatively impacting aquatic ecosystems</vt:lpstr>
      <vt:lpstr>Problem Statement</vt:lpstr>
      <vt:lpstr>Dr. Pitt with support from EPA developed the National Stormwater Database</vt:lpstr>
      <vt:lpstr>Libraries / Packages</vt:lpstr>
      <vt:lpstr>Pipeline</vt:lpstr>
      <vt:lpstr>Cleaning the data by handling missing values non-numeric values and categorical data.</vt:lpstr>
      <vt:lpstr>Total suspended solids data is right skewed with numerous outliers</vt:lpstr>
      <vt:lpstr>Phosphorus data is right skewed with numerous outliers</vt:lpstr>
      <vt:lpstr>Nitrate data is right skewed High number of value 0.</vt:lpstr>
      <vt:lpstr>Feature Engineering</vt:lpstr>
      <vt:lpstr>Feature Selection – Total Suspended Solids</vt:lpstr>
      <vt:lpstr>Feature Selection - Phosphorus</vt:lpstr>
      <vt:lpstr>Feature Selection - Nitrate</vt:lpstr>
      <vt:lpstr>Random Forest Regression, Gradient Boosted Regression and BART</vt:lpstr>
      <vt:lpstr>Cross-Validation / Hyperparameter Tuning</vt:lpstr>
      <vt:lpstr>Total Suspended Solids Results</vt:lpstr>
      <vt:lpstr>Phosphorus Results</vt:lpstr>
      <vt:lpstr>Nitrate Results</vt:lpstr>
      <vt:lpstr>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Neman</dc:creator>
  <cp:lastModifiedBy>Michael Neman</cp:lastModifiedBy>
  <cp:revision>53</cp:revision>
  <dcterms:created xsi:type="dcterms:W3CDTF">2025-11-13T23:45:52Z</dcterms:created>
  <dcterms:modified xsi:type="dcterms:W3CDTF">2025-11-20T23:45:00Z</dcterms:modified>
</cp:coreProperties>
</file>